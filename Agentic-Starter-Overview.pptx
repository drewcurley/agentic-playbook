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097280"/>
            <a:ext cx="4572000" cy="4572000"/>
          </a:xfrm>
          <a:prstGeom prst="ellipse">
            <a:avLst/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40"/>
            <a:ext cx="1828800" cy="8229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5400" b="1" i="0">
                <a:solidFill>
                  <a:srgbClr val="F4F7FA"/>
                </a:solidFill>
                <a:latin typeface="Calibri"/>
              </a:rPr>
              <a:t>Agentic Starter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200" b="0" i="0">
                <a:solidFill>
                  <a:srgbClr val="2DD4BF"/>
                </a:solidFill>
                <a:latin typeface="Calibri"/>
              </a:rPr>
              <a:t>A governed framework for AI-driven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0584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9AABB8"/>
                </a:solidFill>
                <a:latin typeface="Calibri"/>
              </a:rPr>
              <a:t>Conventions, living memory, a 9-agent review team, and mechanical enforcement — so AI agents make changes you can trust.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B74D"/>
                </a:solidFill>
                <a:latin typeface="Calibri"/>
              </a:rPr>
              <a:t>Clone → bootstrap → real work   •   15-minute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WHY THIS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AI agents are powerful — and inconsistent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91440" cy="1600200"/>
          </a:xfrm>
          <a:prstGeom prst="rect">
            <a:avLst/>
          </a:prstGeom>
          <a:solidFill>
            <a:srgbClr val="E8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75688"/>
            <a:ext cx="4663440" cy="1234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800" b="1" i="0">
                <a:solidFill>
                  <a:srgbClr val="F4F7FA"/>
                </a:solidFill>
                <a:latin typeface="Calibri"/>
              </a:rPr>
              <a:t>Cold starts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 i="0">
                <a:solidFill>
                  <a:srgbClr val="9AABB8"/>
                </a:solidFill>
                <a:latin typeface="Calibri"/>
              </a:rPr>
              <a:t>Every session begins blind. The agent re-derives architecture from grep, every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74519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874519"/>
            <a:ext cx="91440" cy="1600200"/>
          </a:xfrm>
          <a:prstGeom prst="rect">
            <a:avLst/>
          </a:prstGeom>
          <a:solidFill>
            <a:srgbClr val="E8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075688"/>
            <a:ext cx="4663440" cy="1234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800" b="1" i="0">
                <a:solidFill>
                  <a:srgbClr val="F4F7FA"/>
                </a:solidFill>
                <a:latin typeface="Calibri"/>
              </a:rPr>
              <a:t>Invented facts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 i="0">
                <a:solidFill>
                  <a:srgbClr val="9AABB8"/>
                </a:solidFill>
                <a:latin typeface="Calibri"/>
              </a:rPr>
              <a:t>Plausible-but-wrong assumptions that look authoritative — and 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49039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749039"/>
            <a:ext cx="91440" cy="1600200"/>
          </a:xfrm>
          <a:prstGeom prst="rect">
            <a:avLst/>
          </a:prstGeom>
          <a:solidFill>
            <a:srgbClr val="E8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950207"/>
            <a:ext cx="4663440" cy="1234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800" b="1" i="0">
                <a:solidFill>
                  <a:srgbClr val="F4F7FA"/>
                </a:solidFill>
                <a:latin typeface="Calibri"/>
              </a:rPr>
              <a:t>No memory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 i="0">
                <a:solidFill>
                  <a:srgbClr val="9AABB8"/>
                </a:solidFill>
                <a:latin typeface="Calibri"/>
              </a:rPr>
              <a:t>The same task two weeks apart yields two different designs.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749039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3749039"/>
            <a:ext cx="91440" cy="1600200"/>
          </a:xfrm>
          <a:prstGeom prst="rect">
            <a:avLst/>
          </a:prstGeom>
          <a:solidFill>
            <a:srgbClr val="E8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950207"/>
            <a:ext cx="4663440" cy="1234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800" b="1" i="0">
                <a:solidFill>
                  <a:srgbClr val="F4F7FA"/>
                </a:solidFill>
                <a:latin typeface="Calibri"/>
              </a:rPr>
              <a:t>Silent breakage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 i="0">
                <a:solidFill>
                  <a:srgbClr val="9AABB8"/>
                </a:solidFill>
                <a:latin typeface="Calibri"/>
              </a:rPr>
              <a:t>A change to one route quietly breaks a caller nobody mapped.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1">
                <a:solidFill>
                  <a:srgbClr val="2DD4BF"/>
                </a:solidFill>
                <a:latin typeface="Calibri"/>
              </a:rPr>
              <a:t>The antidote: a stable set of conventions every agent reads first, plus enforcement that holds when nobody is watching.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The 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02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THE SOLUTION IN ONE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Three pillars, working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429000" cy="33832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3429000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350008"/>
            <a:ext cx="2843784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LIVING MEMORY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100" b="1" i="0">
                <a:solidFill>
                  <a:srgbClr val="F4F7FA"/>
                </a:solidFill>
                <a:latin typeface="Calibri"/>
              </a:rPr>
              <a:t>/docs as source of truth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600" b="0" i="0">
                <a:solidFill>
                  <a:srgbClr val="F4F7FA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 i="0">
                <a:solidFill>
                  <a:srgbClr val="9AABB8"/>
                </a:solidFill>
                <a:latin typeface="Calibri"/>
              </a:rPr>
              <a:t>Architecture, contracts, decisions — complete enough that an agent reading only /docs can commit safely.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965960"/>
            <a:ext cx="3429000" cy="33832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965960"/>
            <a:ext cx="3429000" cy="109728"/>
          </a:xfrm>
          <a:prstGeom prst="rect">
            <a:avLst/>
          </a:prstGeom>
          <a:solidFill>
            <a:srgbClr val="F5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2350008"/>
            <a:ext cx="2843784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 i="0">
                <a:solidFill>
                  <a:srgbClr val="F5B74D"/>
                </a:solidFill>
                <a:latin typeface="Calibri"/>
              </a:rPr>
              <a:t>THE AGENT TEAM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100" b="1" i="0">
                <a:solidFill>
                  <a:srgbClr val="F4F7FA"/>
                </a:solidFill>
                <a:latin typeface="Calibri"/>
              </a:rPr>
              <a:t>9 specialists, 3 rounds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600" b="0" i="0">
                <a:solidFill>
                  <a:srgbClr val="F4F7FA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 i="0">
                <a:solidFill>
                  <a:srgbClr val="9AABB8"/>
                </a:solidFill>
                <a:latin typeface="Calibri"/>
              </a:rPr>
              <a:t>Every non-trivial change is reviewed by domain experts with non-negotiable redlines + 7 strategic lenses.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965960"/>
            <a:ext cx="3429000" cy="33832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0" y="1965960"/>
            <a:ext cx="3429000" cy="109728"/>
          </a:xfrm>
          <a:prstGeom prst="rect">
            <a:avLst/>
          </a:prstGeom>
          <a:solidFill>
            <a:srgbClr val="4AD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96528" y="2350008"/>
            <a:ext cx="2843784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 i="0">
                <a:solidFill>
                  <a:srgbClr val="4AD295"/>
                </a:solidFill>
                <a:latin typeface="Calibri"/>
              </a:rPr>
              <a:t>ENFORCEMENT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100" b="1" i="0">
                <a:solidFill>
                  <a:srgbClr val="F4F7FA"/>
                </a:solidFill>
                <a:latin typeface="Calibri"/>
              </a:rPr>
              <a:t>hooks · CI · branch rules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600" b="0" i="0">
                <a:solidFill>
                  <a:srgbClr val="F4F7FA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 i="0">
                <a:solidFill>
                  <a:srgbClr val="9AABB8"/>
                </a:solidFill>
                <a:latin typeface="Calibri"/>
              </a:rPr>
              <a:t>Mechanical gates so the conventions are not optional — even under deadline pressure.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F4F7FA"/>
                </a:solidFill>
                <a:latin typeface="Calibri"/>
              </a:rPr>
              <a:t>Pull out any one pillar and the other two lose their teeth. The friction is the feature.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What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03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PILLAR 1 — LIVING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/docs is the project's source of truth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10561320" cy="1051560"/>
          </a:xfrm>
          <a:prstGeom prst="roundRect">
            <a:avLst>
              <a:gd name="adj" fmla="val 8000"/>
            </a:avLst>
          </a:prstGeom>
          <a:solidFill>
            <a:srgbClr val="24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93392"/>
            <a:ext cx="1005840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 i="0">
                <a:solidFill>
                  <a:srgbClr val="F5B74D"/>
                </a:solidFill>
                <a:latin typeface="Calibri"/>
              </a:rPr>
              <a:t>The bar every doc must clear: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550" b="0" i="1">
                <a:solidFill>
                  <a:srgbClr val="F4F7FA"/>
                </a:solidFill>
                <a:latin typeface="Calibri"/>
              </a:rPr>
              <a:t>“An agent who has read only /docs can make a commit confident it won’t break an existing route, data contract, integration, or behavior.”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00400"/>
            <a:ext cx="5212080" cy="26974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4754880" cy="2468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TIER 1  — before any feature work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1" i="0">
                <a:solidFill>
                  <a:srgbClr val="F4F7FA"/>
                </a:solidFill>
                <a:latin typeface="Calibri"/>
              </a:rPr>
              <a:t>architecture · contracts ★ · api · data-model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stack · testing · deployment · ownership · onboarding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500" b="0" i="0">
                <a:solidFill>
                  <a:srgbClr val="F4F7FA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00" b="0" i="0">
                <a:solidFill>
                  <a:srgbClr val="9AABB8"/>
                </a:solidFill>
                <a:latin typeface="Calibri"/>
              </a:rPr>
              <a:t>contracts.md = the exhaustive, code-grounded inventory of everything an autonomous change could break.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200400"/>
            <a:ext cx="5212080" cy="26974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3383280"/>
            <a:ext cx="4754880" cy="2468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F5B74D"/>
                </a:solidFill>
                <a:latin typeface="Calibri"/>
              </a:rPr>
              <a:t>GROUNDING &amp; COMPLETENESS PROTOCOL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✓ Grounded in real code (cite paths)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✓ No invented facts — UNKNOWN, not a guess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✓ Exhaustive where it's a contract (no sampling)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✓ States invariants + blast radius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✓ Verified against source by reviewers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Living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04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PILLAR 2 —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Nine specialists, each owning a domain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429000" cy="1078992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91440" cy="10789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66544"/>
            <a:ext cx="2971800" cy="804671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F4F7FA"/>
                </a:solidFill>
                <a:latin typeface="Calibri"/>
              </a:rPr>
              <a:t>Analyst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9AABB8"/>
                </a:solidFill>
                <a:latin typeface="Calibri"/>
              </a:rPr>
              <a:t>wins on  </a:t>
            </a:r>
            <a:r>
              <a:rPr sz="1100" b="1" i="0">
                <a:solidFill>
                  <a:srgbClr val="F5B74D"/>
                </a:solidFill>
                <a:latin typeface="Calibri"/>
              </a:rPr>
              <a:t>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920240"/>
            <a:ext cx="3429000" cy="1078992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920240"/>
            <a:ext cx="91440" cy="10789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066544"/>
            <a:ext cx="2971800" cy="804671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F4F7FA"/>
                </a:solidFill>
                <a:latin typeface="Calibri"/>
              </a:rPr>
              <a:t>Architect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9AABB8"/>
                </a:solidFill>
                <a:latin typeface="Calibri"/>
              </a:rPr>
              <a:t>wins on  </a:t>
            </a:r>
            <a:r>
              <a:rPr sz="1100" b="1" i="0">
                <a:solidFill>
                  <a:srgbClr val="F5B74D"/>
                </a:solidFill>
                <a:latin typeface="Calibri"/>
              </a:rPr>
              <a:t>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920240"/>
            <a:ext cx="3429000" cy="1078992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0" y="1920240"/>
            <a:ext cx="91440" cy="10789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2066544"/>
            <a:ext cx="2971800" cy="804671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F4F7FA"/>
                </a:solidFill>
                <a:latin typeface="Calibri"/>
              </a:rPr>
              <a:t>Data Eng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9AABB8"/>
                </a:solidFill>
                <a:latin typeface="Calibri"/>
              </a:rPr>
              <a:t>wins on  </a:t>
            </a:r>
            <a:r>
              <a:rPr sz="1100" b="1" i="0">
                <a:solidFill>
                  <a:srgbClr val="F5B74D"/>
                </a:solidFill>
                <a:latin typeface="Calibri"/>
              </a:rPr>
              <a:t>schema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73552"/>
            <a:ext cx="3429000" cy="1078992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73552"/>
            <a:ext cx="91440" cy="10789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19856"/>
            <a:ext cx="2971800" cy="804671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F4F7FA"/>
                </a:solidFill>
                <a:latin typeface="Calibri"/>
              </a:rPr>
              <a:t>Backend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9AABB8"/>
                </a:solidFill>
                <a:latin typeface="Calibri"/>
              </a:rPr>
              <a:t>wins on  </a:t>
            </a:r>
            <a:r>
              <a:rPr sz="1100" b="1" i="0">
                <a:solidFill>
                  <a:srgbClr val="F5B74D"/>
                </a:solidFill>
                <a:latin typeface="Calibri"/>
              </a:rPr>
              <a:t>app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3273552"/>
            <a:ext cx="3429000" cy="1078992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3273552"/>
            <a:ext cx="91440" cy="10789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3419856"/>
            <a:ext cx="2971800" cy="804671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F4F7FA"/>
                </a:solidFill>
                <a:latin typeface="Calibri"/>
              </a:rPr>
              <a:t>Frontend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9AABB8"/>
                </a:solidFill>
                <a:latin typeface="Calibri"/>
              </a:rPr>
              <a:t>wins on  </a:t>
            </a:r>
            <a:r>
              <a:rPr sz="1100" b="1" i="0">
                <a:solidFill>
                  <a:srgbClr val="F5B74D"/>
                </a:solidFill>
                <a:latin typeface="Calibri"/>
              </a:rPr>
              <a:t>UI feasibility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3273552"/>
            <a:ext cx="3429000" cy="1078992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03920" y="3273552"/>
            <a:ext cx="91440" cy="10789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3419856"/>
            <a:ext cx="2971800" cy="804671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F4F7FA"/>
                </a:solidFill>
                <a:latin typeface="Calibri"/>
              </a:rPr>
              <a:t>UX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9AABB8"/>
                </a:solidFill>
                <a:latin typeface="Calibri"/>
              </a:rPr>
              <a:t>wins on  </a:t>
            </a:r>
            <a:r>
              <a:rPr sz="1100" b="1" i="0">
                <a:solidFill>
                  <a:srgbClr val="F5B74D"/>
                </a:solidFill>
                <a:latin typeface="Calibri"/>
              </a:rPr>
              <a:t>user-facing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626864"/>
            <a:ext cx="3429000" cy="1078992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626864"/>
            <a:ext cx="91440" cy="10789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2971800" cy="804671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F4F7FA"/>
                </a:solidFill>
                <a:latin typeface="Calibri"/>
              </a:rPr>
              <a:t>Test Eng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9AABB8"/>
                </a:solidFill>
                <a:latin typeface="Calibri"/>
              </a:rPr>
              <a:t>wins on  </a:t>
            </a:r>
            <a:r>
              <a:rPr sz="1100" b="1" i="0">
                <a:solidFill>
                  <a:srgbClr val="F5B74D"/>
                </a:solidFill>
                <a:latin typeface="Calibri"/>
              </a:rPr>
              <a:t>coverage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4626864"/>
            <a:ext cx="3429000" cy="1078992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4626864"/>
            <a:ext cx="91440" cy="10789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4773168"/>
            <a:ext cx="2971800" cy="804671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F4F7FA"/>
                </a:solidFill>
                <a:latin typeface="Calibri"/>
              </a:rPr>
              <a:t>DevOps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9AABB8"/>
                </a:solidFill>
                <a:latin typeface="Calibri"/>
              </a:rPr>
              <a:t>wins on  </a:t>
            </a:r>
            <a:r>
              <a:rPr sz="1100" b="1" i="0">
                <a:solidFill>
                  <a:srgbClr val="F5B74D"/>
                </a:solidFill>
                <a:latin typeface="Calibri"/>
              </a:rPr>
              <a:t>deploy safety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4626864"/>
            <a:ext cx="3429000" cy="1078992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3920" y="4626864"/>
            <a:ext cx="91440" cy="10789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4773168"/>
            <a:ext cx="2971800" cy="804671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F4F7FA"/>
                </a:solidFill>
                <a:latin typeface="Calibri"/>
              </a:rPr>
              <a:t>Coordinator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9AABB8"/>
                </a:solidFill>
                <a:latin typeface="Calibri"/>
              </a:rPr>
              <a:t>wins on  </a:t>
            </a:r>
            <a:r>
              <a:rPr sz="1100" b="1" i="0">
                <a:solidFill>
                  <a:srgbClr val="F5B74D"/>
                </a:solidFill>
                <a:latin typeface="Calibri"/>
              </a:rPr>
              <a:t>process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9AABB8"/>
                </a:solidFill>
                <a:latin typeface="Calibri"/>
              </a:rPr>
              <a:t>Each carries non-negotiable redlines. Conflicts resolve by domain: Architect wins security, Test Eng wins coverage, Analyst wins scope.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The agent 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05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HOW REVIEW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Three rounds, then seven lenses for big calls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6949440" cy="105156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1371600" cy="1051560"/>
          </a:xfrm>
          <a:prstGeom prst="roundRect">
            <a:avLst>
              <a:gd name="adj" fmla="val 8000"/>
            </a:avLst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37160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2DD4B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066544"/>
            <a:ext cx="5212080" cy="77723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50" b="1" i="0">
                <a:solidFill>
                  <a:srgbClr val="F4F7FA"/>
                </a:solidFill>
                <a:latin typeface="Calibri"/>
              </a:rPr>
              <a:t>ROUND 1 · Analysis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9AABB8"/>
                </a:solidFill>
                <a:latin typeface="Calibri"/>
              </a:rPr>
              <a:t>Analyst · Architect · Data Eng   </a:t>
            </a:r>
            <a:r>
              <a:rPr sz="1200" b="0" i="0">
                <a:solidFill>
                  <a:srgbClr val="F5B74D"/>
                </a:solidFill>
                <a:latin typeface="Calibri"/>
              </a:rPr>
              <a:t>→ scope, security,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935224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34452"/>
                </a:solidFill>
                <a:latin typeface="Calibri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36391"/>
            <a:ext cx="6949440" cy="105156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136391"/>
            <a:ext cx="1371600" cy="1051560"/>
          </a:xfrm>
          <a:prstGeom prst="roundRect">
            <a:avLst>
              <a:gd name="adj" fmla="val 8000"/>
            </a:avLst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37160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2DD4B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282696"/>
            <a:ext cx="5212080" cy="77723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50" b="1" i="0">
                <a:solidFill>
                  <a:srgbClr val="F4F7FA"/>
                </a:solidFill>
                <a:latin typeface="Calibri"/>
              </a:rPr>
              <a:t>ROUND 2 · Implementation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9AABB8"/>
                </a:solidFill>
                <a:latin typeface="Calibri"/>
              </a:rPr>
              <a:t>Backend · Frontend · UX   </a:t>
            </a:r>
            <a:r>
              <a:rPr sz="1200" b="0" i="0">
                <a:solidFill>
                  <a:srgbClr val="F5B74D"/>
                </a:solidFill>
                <a:latin typeface="Calibri"/>
              </a:rPr>
              <a:t>→ feasibility, user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151376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34452"/>
                </a:solidFill>
                <a:latin typeface="Calibr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52544"/>
            <a:ext cx="6949440" cy="105156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352544"/>
            <a:ext cx="1371600" cy="1051560"/>
          </a:xfrm>
          <a:prstGeom prst="roundRect">
            <a:avLst>
              <a:gd name="adj" fmla="val 8000"/>
            </a:avLst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52544"/>
            <a:ext cx="137160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2DD4B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498848"/>
            <a:ext cx="5212080" cy="77723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50" b="1" i="0">
                <a:solidFill>
                  <a:srgbClr val="F4F7FA"/>
                </a:solidFill>
                <a:latin typeface="Calibri"/>
              </a:rPr>
              <a:t>ROUND 3 · Verification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9AABB8"/>
                </a:solidFill>
                <a:latin typeface="Calibri"/>
              </a:rPr>
              <a:t>Test Eng · DevOps   </a:t>
            </a:r>
            <a:r>
              <a:rPr sz="1200" b="0" i="0">
                <a:solidFill>
                  <a:srgbClr val="F5B74D"/>
                </a:solidFill>
                <a:latin typeface="Calibri"/>
              </a:rPr>
              <a:t>→ coverage, deploy safety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920240"/>
            <a:ext cx="3337560" cy="3630168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103120"/>
            <a:ext cx="2834640" cy="3383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F5B74D"/>
                </a:solidFill>
                <a:latin typeface="Calibri"/>
              </a:rPr>
              <a:t>7 STRATEGIC LENSES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1">
                <a:solidFill>
                  <a:srgbClr val="9AABB8"/>
                </a:solidFill>
                <a:latin typeface="Calibri"/>
              </a:rPr>
              <a:t>for every major decision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500" b="0" i="0">
                <a:solidFill>
                  <a:srgbClr val="F4F7FA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F4F7FA"/>
                </a:solidFill>
                <a:latin typeface="Calibri"/>
              </a:rPr>
              <a:t>CEO · Purchasing · PM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F4F7FA"/>
                </a:solidFill>
                <a:latin typeface="Calibri"/>
              </a:rPr>
              <a:t>Adopter · Builder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F4F7FA"/>
                </a:solidFill>
                <a:latin typeface="Calibri"/>
              </a:rPr>
              <a:t>Investor · Marketing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500" b="0" i="0">
                <a:solidFill>
                  <a:srgbClr val="F4F7FA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9AABB8"/>
                </a:solidFill>
                <a:latin typeface="Calibri"/>
              </a:rPr>
              <a:t>Surface conflicts between lenses — don't paper over them.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9AABB8"/>
                </a:solidFill>
                <a:latin typeface="Calibri"/>
              </a:rPr>
              <a:t>Each round's blockers are resolved before the next begins. Output: a documented review artifact with all sign-offs.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Review 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06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PILLAR 3 —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Conventions that aren't optional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0561320" cy="118872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109728" cy="1188720"/>
          </a:xfrm>
          <a:prstGeom prst="rect">
            <a:avLst/>
          </a:prstGeom>
          <a:solidFill>
            <a:srgbClr val="4AD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66544"/>
            <a:ext cx="7955279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50" b="1" i="0">
                <a:solidFill>
                  <a:srgbClr val="F4F7FA"/>
                </a:solidFill>
                <a:latin typeface="Calibri"/>
              </a:rPr>
              <a:t>LOCAL  ·  git hooks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No commits to main · no placeholders · secret scan · Task-ID required · /docs consensus assertion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920240"/>
            <a:ext cx="2194560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5B74D"/>
                </a:solidFill>
                <a:latin typeface="Calibri"/>
              </a:rPr>
              <a:t>Runs on every commit &amp;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73552"/>
            <a:ext cx="10561320" cy="118872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273552"/>
            <a:ext cx="109728" cy="1188720"/>
          </a:xfrm>
          <a:prstGeom prst="rect">
            <a:avLst/>
          </a:prstGeom>
          <a:solidFill>
            <a:srgbClr val="4AD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19856"/>
            <a:ext cx="7955279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50" b="1" i="0">
                <a:solidFill>
                  <a:srgbClr val="F4F7FA"/>
                </a:solidFill>
                <a:latin typeface="Calibri"/>
              </a:rPr>
              <a:t>SERVER  ·  CI mirror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Same checks run server-side (Azure DevOps now; GitHub Actions parked) — shared scripts/ci-checks.sh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273552"/>
            <a:ext cx="2194560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5B74D"/>
                </a:solidFill>
                <a:latin typeface="Calibri"/>
              </a:rPr>
              <a:t>--no-verify can't bypass this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626864"/>
            <a:ext cx="10561320" cy="118872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626864"/>
            <a:ext cx="109728" cy="1188720"/>
          </a:xfrm>
          <a:prstGeom prst="rect">
            <a:avLst/>
          </a:prstGeom>
          <a:solidFill>
            <a:srgbClr val="4AD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773168"/>
            <a:ext cx="7955279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50" b="1" i="0">
                <a:solidFill>
                  <a:srgbClr val="F4F7FA"/>
                </a:solidFill>
                <a:latin typeface="Calibri"/>
              </a:rPr>
              <a:t>BRANCH  ·  protection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PR required · no force-push · admins included · CI check required · human approval (team)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626864"/>
            <a:ext cx="2194560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5B74D"/>
                </a:solidFill>
                <a:latin typeface="Calibri"/>
              </a:rPr>
              <a:t>The keystone — makes the rest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Enforcement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07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TWO WAYS TO ADOPT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Single repo, or a multi-repo workspace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212080" cy="365760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6634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SINGLE REPO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9AABB8"/>
                </a:solidFill>
                <a:latin typeface="Calibri"/>
              </a:rPr>
              <a:t>the fork is your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063240"/>
            <a:ext cx="4480560" cy="2286000"/>
          </a:xfrm>
          <a:prstGeom prst="roundRect">
            <a:avLst>
              <a:gd name="adj" fmla="val 8000"/>
            </a:avLst>
          </a:prstGeom>
          <a:solidFill>
            <a:srgbClr val="24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3246120"/>
            <a:ext cx="411480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4F7FA"/>
                </a:solidFill>
                <a:latin typeface="Calibri"/>
              </a:rPr>
              <a:t>repo/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  AGENTS.md · .githooks/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F4F7FA"/>
                </a:solidFill>
                <a:latin typeface="Calibri"/>
              </a:rPr>
              <a:t>  /docs  (living memory)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  /tasks  · src/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5212080" cy="365760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6634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5B74D"/>
                </a:solidFill>
                <a:latin typeface="Calibri"/>
              </a:rPr>
              <a:t>MULTI-REPO WORKSPACE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9AABB8"/>
                </a:solidFill>
                <a:latin typeface="Calibri"/>
              </a:rPr>
              <a:t>one product, several repos — no monorepo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063240"/>
            <a:ext cx="4480560" cy="2286000"/>
          </a:xfrm>
          <a:prstGeom prst="roundRect">
            <a:avLst>
              <a:gd name="adj" fmla="val 8000"/>
            </a:avLst>
          </a:prstGeom>
          <a:solidFill>
            <a:srgbClr val="24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3200400"/>
            <a:ext cx="4114800" cy="2103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F4F7FA"/>
                </a:solidFill>
                <a:latin typeface="Calibri"/>
              </a:rPr>
              <a:t>playbook/   ← shared, governs all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2DD4BF"/>
                </a:solidFill>
                <a:latin typeface="Calibri"/>
              </a:rPr>
              <a:t>  integration-map.md  ★ cross-repo seams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F4F7FA"/>
                </a:solidFill>
                <a:latin typeface="Calibri"/>
              </a:rPr>
              <a:t>web/   api/   infra/   (siblings)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9AABB8"/>
                </a:solidFill>
                <a:latin typeface="Calibri"/>
              </a:rPr>
              <a:t>  each: own /docs · hooks · 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1">
                <a:solidFill>
                  <a:srgbClr val="F4F7FA"/>
                </a:solidFill>
                <a:latin typeface="Calibri"/>
              </a:rPr>
              <a:t>Multi-repo superpower: change a contract in one repo and the agent sees which sibling repos consume it — before it breaks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Single vs. multi-repo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08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THE PAYOFF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Why a change can be trusted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1993392" cy="237744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993392" cy="640080"/>
          </a:xfrm>
          <a:prstGeom prst="roundRect">
            <a:avLst>
              <a:gd name="adj" fmla="val 8000"/>
            </a:avLst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9424"/>
            <a:ext cx="199339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2DD4B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971800"/>
            <a:ext cx="1664208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Read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9AABB8"/>
                </a:solidFill>
                <a:latin typeface="Calibri"/>
              </a:rPr>
              <a:t>Agent reads /docs + contracts.md at session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194560"/>
            <a:ext cx="274320" cy="2377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334452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80944" y="2194560"/>
            <a:ext cx="1993392" cy="237744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80944" y="2194560"/>
            <a:ext cx="1993392" cy="640080"/>
          </a:xfrm>
          <a:prstGeom prst="roundRect">
            <a:avLst>
              <a:gd name="adj" fmla="val 8000"/>
            </a:avLst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2249424"/>
            <a:ext cx="199339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2DD4B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2971800"/>
            <a:ext cx="1664208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Locate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9AABB8"/>
                </a:solidFill>
                <a:latin typeface="Calibri"/>
              </a:rPr>
              <a:t>Finds every route/schema/event its change touches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2194560"/>
            <a:ext cx="274320" cy="2377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334452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8" y="2194560"/>
            <a:ext cx="1993392" cy="237744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38928" y="2194560"/>
            <a:ext cx="1993392" cy="640080"/>
          </a:xfrm>
          <a:prstGeom prst="roundRect">
            <a:avLst>
              <a:gd name="adj" fmla="val 8000"/>
            </a:avLst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2249424"/>
            <a:ext cx="199339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2DD4B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971800"/>
            <a:ext cx="1664208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Assess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9AABB8"/>
                </a:solidFill>
                <a:latin typeface="Calibri"/>
              </a:rPr>
              <a:t>Checks blast radius — incl. cross-repo consumers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2194560"/>
            <a:ext cx="274320" cy="2377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334452"/>
                </a:solidFill>
                <a:latin typeface="Calibr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6912" y="2194560"/>
            <a:ext cx="1993392" cy="237744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96912" y="2194560"/>
            <a:ext cx="1993392" cy="640080"/>
          </a:xfrm>
          <a:prstGeom prst="roundRect">
            <a:avLst>
              <a:gd name="adj" fmla="val 8000"/>
            </a:avLst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96912" y="2249424"/>
            <a:ext cx="199339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2DD4B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2971800"/>
            <a:ext cx="1664208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Prove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9AABB8"/>
                </a:solidFill>
                <a:latin typeface="Calibri"/>
              </a:rPr>
              <a:t>Runs the regression-safety check + contract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194560"/>
            <a:ext cx="274320" cy="2377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334452"/>
                </a:solidFill>
                <a:latin typeface="Calib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54896" y="2194560"/>
            <a:ext cx="1993392" cy="237744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54896" y="2194560"/>
            <a:ext cx="1993392" cy="640080"/>
          </a:xfrm>
          <a:prstGeom prst="roundRect">
            <a:avLst>
              <a:gd name="adj" fmla="val 8000"/>
            </a:avLst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54896" y="2249424"/>
            <a:ext cx="199339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2DD4B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9488" y="2971800"/>
            <a:ext cx="1664208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Record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9AABB8"/>
                </a:solidFill>
                <a:latin typeface="Calibri"/>
              </a:rPr>
              <a:t>Updates contracts.md in the same PR — atomic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5B74D"/>
                </a:solidFill>
                <a:latin typeface="Calibri"/>
              </a:rPr>
              <a:t>Hard gate: </a:t>
            </a:r>
            <a:r>
              <a:rPr sz="1400" b="0" i="0">
                <a:solidFill>
                  <a:srgbClr val="F4F7FA"/>
                </a:solidFill>
                <a:latin typeface="Calibri"/>
              </a:rPr>
              <a:t>no commit touching a documented contract merges without updating contracts.md in the same PR. Living memory can't lag the code.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Safe commits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09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CLONE →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Six steps from fork to enforced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920240"/>
            <a:ext cx="603504" cy="60350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603504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0E141B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920240"/>
            <a:ext cx="9738360" cy="603504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920240"/>
            <a:ext cx="420624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Fork / 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920240"/>
            <a:ext cx="52120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Use as template; keep the layout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633472"/>
            <a:ext cx="603504" cy="60350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33472"/>
            <a:ext cx="603504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0E141B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2633472"/>
            <a:ext cx="9738360" cy="603504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2633472"/>
            <a:ext cx="420624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Replace placeholders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633472"/>
            <a:ext cx="52120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grep -rl '[insert' — stack, handles, names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346704"/>
            <a:ext cx="603504" cy="60350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46704"/>
            <a:ext cx="603504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0E141B"/>
                </a:solidFill>
                <a:latin typeface="Calibr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3346704"/>
            <a:ext cx="9738360" cy="603504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3346704"/>
            <a:ext cx="420624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Install hooks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346704"/>
            <a:ext cx="52120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setup-hooks.sh  (or setup-workspace.sh)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059935"/>
            <a:ext cx="603504" cy="60350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59935"/>
            <a:ext cx="603504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0E141B"/>
                </a:solidFill>
                <a:latin typeface="Calibr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45920" y="4059935"/>
            <a:ext cx="9738360" cy="603504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4059935"/>
            <a:ext cx="420624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Wire 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059935"/>
            <a:ext cx="52120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Azure DevOps pipeline + PR build validation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4773168"/>
            <a:ext cx="603504" cy="60350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773168"/>
            <a:ext cx="603504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0E141B"/>
                </a:solidFill>
                <a:latin typeface="Calibri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45920" y="4773168"/>
            <a:ext cx="9738360" cy="603504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4773168"/>
            <a:ext cx="420624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Protect main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773168"/>
            <a:ext cx="52120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PR required · approvals to match headcount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5486400"/>
            <a:ext cx="603504" cy="60350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486400"/>
            <a:ext cx="603504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0E141B"/>
                </a:solidFill>
                <a:latin typeface="Calibri"/>
              </a:rPr>
              <a:t>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45920" y="5486400"/>
            <a:ext cx="9738360" cy="603504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5486400"/>
            <a:ext cx="420624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First agent session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5486400"/>
            <a:ext cx="52120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Agent bootstraps /docs before any feature 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9AABB8"/>
                </a:solidFill>
                <a:latin typeface="Calibri"/>
              </a:rPr>
              <a:t>One runbook: </a:t>
            </a:r>
            <a:r>
              <a:rPr sz="1200" b="1" i="1">
                <a:solidFill>
                  <a:srgbClr val="F5B74D"/>
                </a:solidFill>
                <a:latin typeface="Calibri"/>
              </a:rPr>
              <a:t>ADOPTING.md</a:t>
            </a:r>
            <a:r>
              <a:rPr sz="1200" b="0" i="1">
                <a:solidFill>
                  <a:srgbClr val="9AABB8"/>
                </a:solidFill>
                <a:latin typeface="Calibri"/>
              </a:rPr>
              <a:t>  — ordered, with don't-brick-the-repo warnings.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The journey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PATH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Bootstrapping an existing codebase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24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29968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F4F7FA"/>
                </a:solidFill>
                <a:latin typeface="Calibri"/>
              </a:rPr>
              <a:t>The agent’s first job is to </a:t>
            </a:r>
            <a:r>
              <a:rPr sz="1400" b="1" i="0">
                <a:solidFill>
                  <a:srgbClr val="2DD4BF"/>
                </a:solidFill>
                <a:latin typeface="Calibri"/>
              </a:rPr>
              <a:t>build /docs from the real code</a:t>
            </a:r>
            <a:r>
              <a:rPr sz="1400" b="0" i="0">
                <a:solidFill>
                  <a:srgbClr val="F4F7FA"/>
                </a:solidFill>
                <a:latin typeface="Calibri"/>
              </a:rPr>
              <a:t> — not feature work. It reads the repo and drafts living memory grounded in what exists.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5166360" cy="128016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063240"/>
            <a:ext cx="91440" cy="12801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227832"/>
            <a:ext cx="475488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Map what's real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9AABB8"/>
                </a:solidFill>
                <a:latin typeface="Calibri"/>
              </a:rPr>
              <a:t>Routes, schema, integrations, env vars enumerated from source — not guessed. contracts.md is exhaustive.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63240"/>
            <a:ext cx="5166360" cy="128016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3063240"/>
            <a:ext cx="91440" cy="12801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3227832"/>
            <a:ext cx="475488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Mark the unknowns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9AABB8"/>
                </a:solidFill>
                <a:latin typeface="Calibri"/>
              </a:rPr>
              <a:t>Anything unconfirmed becomes UNKNOWN — flagged for you, never invented.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80560"/>
            <a:ext cx="5166360" cy="128016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480560"/>
            <a:ext cx="91440" cy="12801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645152"/>
            <a:ext cx="475488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Review to land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9AABB8"/>
                </a:solidFill>
                <a:latin typeface="Calibri"/>
              </a:rPr>
              <a:t>All 9 agents sign off before /docs lands; reviewers re-check claims against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480560"/>
            <a:ext cx="5166360" cy="128016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480560"/>
            <a:ext cx="91440" cy="12801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4645152"/>
            <a:ext cx="475488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Then feature work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9AABB8"/>
                </a:solidFill>
                <a:latin typeface="Calibri"/>
              </a:rPr>
              <a:t>Once Tier 1 is in, the agent can change code knowing what it might break.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Existing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PATH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Starting a greenfield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24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29968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F4F7FA"/>
                </a:solidFill>
                <a:latin typeface="Calibri"/>
              </a:rPr>
              <a:t>With little code yet, /docs is </a:t>
            </a:r>
            <a:r>
              <a:rPr sz="1400" b="1" i="0">
                <a:solidFill>
                  <a:srgbClr val="F5B74D"/>
                </a:solidFill>
                <a:latin typeface="Calibri"/>
              </a:rPr>
              <a:t>forward-looking</a:t>
            </a:r>
            <a:r>
              <a:rPr sz="1400" b="0" i="0">
                <a:solidFill>
                  <a:srgbClr val="F4F7FA"/>
                </a:solidFill>
                <a:latin typeface="Calibri"/>
              </a:rPr>
              <a:t> — it describes the intended state, clearly labeled as such (never blurred with “what exists”).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5166360" cy="128016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063240"/>
            <a:ext cx="91440" cy="1280160"/>
          </a:xfrm>
          <a:prstGeom prst="rect">
            <a:avLst/>
          </a:prstGeom>
          <a:solidFill>
            <a:srgbClr val="F5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227832"/>
            <a:ext cx="475488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Decide the stack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9AABB8"/>
                </a:solidFill>
                <a:latin typeface="Calibri"/>
              </a:rPr>
              <a:t>ADR 0001 captures the foundational choice + why — the question a future engineer asks.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63240"/>
            <a:ext cx="5166360" cy="128016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3063240"/>
            <a:ext cx="91440" cy="1280160"/>
          </a:xfrm>
          <a:prstGeom prst="rect">
            <a:avLst/>
          </a:prstGeom>
          <a:solidFill>
            <a:srgbClr val="F5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3227832"/>
            <a:ext cx="475488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Design contracts first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9AABB8"/>
                </a:solidFill>
                <a:latin typeface="Calibri"/>
              </a:rPr>
              <a:t>api.md / data-model.md describe planned routes &amp; schema as the contract to build 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80560"/>
            <a:ext cx="5166360" cy="128016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480560"/>
            <a:ext cx="91440" cy="1280160"/>
          </a:xfrm>
          <a:prstGeom prst="rect">
            <a:avLst/>
          </a:prstGeom>
          <a:solidFill>
            <a:srgbClr val="F5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645152"/>
            <a:ext cx="475488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Lenses up front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9AABB8"/>
                </a:solidFill>
                <a:latin typeface="Calibri"/>
              </a:rPr>
              <a:t>Major direction calls run the 7 lenses before code, while changing course is cheap.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480560"/>
            <a:ext cx="5166360" cy="128016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480560"/>
            <a:ext cx="91440" cy="1280160"/>
          </a:xfrm>
          <a:prstGeom prst="rect">
            <a:avLst/>
          </a:prstGeom>
          <a:solidFill>
            <a:srgbClr val="F5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4645152"/>
            <a:ext cx="475488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Grow memory as you build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9AABB8"/>
                </a:solidFill>
                <a:latin typeface="Calibri"/>
              </a:rPr>
              <a:t>Each feature fills contracts.md with real, grounded entries — forward-looking → descriptive.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New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A typical session, end to 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66360" cy="10972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502920" cy="1097280"/>
          </a:xfrm>
          <a:prstGeom prst="roundRect">
            <a:avLst>
              <a:gd name="adj" fmla="val 8000"/>
            </a:avLst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50292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2DD4B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93976"/>
            <a:ext cx="4297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50" b="1" i="0">
                <a:solidFill>
                  <a:srgbClr val="F4F7FA"/>
                </a:solidFill>
                <a:latin typeface="Calibri"/>
              </a:rPr>
              <a:t>Session start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9AABB8"/>
                </a:solidFill>
                <a:latin typeface="Calibri"/>
              </a:rPr>
              <a:t>Agent reads /docs + tasks; one-line ack of what it loaded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166360" cy="10972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02920" cy="1097280"/>
          </a:xfrm>
          <a:prstGeom prst="roundRect">
            <a:avLst>
              <a:gd name="adj" fmla="val 8000"/>
            </a:avLst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965960"/>
            <a:ext cx="50292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2DD4B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093976"/>
            <a:ext cx="4297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50" b="1" i="0">
                <a:solidFill>
                  <a:srgbClr val="F4F7FA"/>
                </a:solidFill>
                <a:latin typeface="Calibri"/>
              </a:rPr>
              <a:t>Open a task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9AABB8"/>
                </a:solidFill>
                <a:latin typeface="Calibri"/>
              </a:rPr>
              <a:t>tasks/T-NNN.md — acceptance criteria, branch off 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00400"/>
            <a:ext cx="5166360" cy="10972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200400"/>
            <a:ext cx="502920" cy="1097280"/>
          </a:xfrm>
          <a:prstGeom prst="roundRect">
            <a:avLst>
              <a:gd name="adj" fmla="val 8000"/>
            </a:avLst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50292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2DD4B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328416"/>
            <a:ext cx="4297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50" b="1" i="0">
                <a:solidFill>
                  <a:srgbClr val="F4F7FA"/>
                </a:solidFill>
                <a:latin typeface="Calibri"/>
              </a:rPr>
              <a:t>Plan → review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9AABB8"/>
                </a:solidFill>
                <a:latin typeface="Calibri"/>
              </a:rPr>
              <a:t>3-round review on the plan before a line of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00400"/>
            <a:ext cx="5166360" cy="10972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3200400"/>
            <a:ext cx="502920" cy="1097280"/>
          </a:xfrm>
          <a:prstGeom prst="roundRect">
            <a:avLst>
              <a:gd name="adj" fmla="val 8000"/>
            </a:avLst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200400"/>
            <a:ext cx="50292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2DD4B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328416"/>
            <a:ext cx="4297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50" b="1" i="0">
                <a:solidFill>
                  <a:srgbClr val="F4F7FA"/>
                </a:solidFill>
                <a:latin typeface="Calibri"/>
              </a:rPr>
              <a:t>Build → review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9AABB8"/>
                </a:solidFill>
                <a:latin typeface="Calibri"/>
              </a:rPr>
              <a:t>Implement, then review the build; tests for every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434840"/>
            <a:ext cx="5166360" cy="10972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4434840"/>
            <a:ext cx="502920" cy="1097280"/>
          </a:xfrm>
          <a:prstGeom prst="roundRect">
            <a:avLst>
              <a:gd name="adj" fmla="val 8000"/>
            </a:avLst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34840"/>
            <a:ext cx="50292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2DD4B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562855"/>
            <a:ext cx="4297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50" b="1" i="0">
                <a:solidFill>
                  <a:srgbClr val="F4F7FA"/>
                </a:solidFill>
                <a:latin typeface="Calibri"/>
              </a:rPr>
              <a:t>Regression-safety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9AABB8"/>
                </a:solidFill>
                <a:latin typeface="Calibri"/>
              </a:rPr>
              <a:t>Diff vs contracts.md; update docs in the same PR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434840"/>
            <a:ext cx="5166360" cy="10972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4434840"/>
            <a:ext cx="502920" cy="1097280"/>
          </a:xfrm>
          <a:prstGeom prst="roundRect">
            <a:avLst>
              <a:gd name="adj" fmla="val 8000"/>
            </a:avLst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4434840"/>
            <a:ext cx="50292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2DD4B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562855"/>
            <a:ext cx="4297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50" b="1" i="0">
                <a:solidFill>
                  <a:srgbClr val="F4F7FA"/>
                </a:solidFill>
                <a:latin typeface="Calibri"/>
              </a:rPr>
              <a:t>Commit → PR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9AABB8"/>
                </a:solidFill>
                <a:latin typeface="Calibri"/>
              </a:rPr>
              <a:t>Task-ID enforced; state → completed in the work PR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F4F7FA"/>
                </a:solidFill>
                <a:latin typeface="Calibri"/>
              </a:rPr>
              <a:t>Heavy on the first PR, natural by the third. </a:t>
            </a:r>
            <a:r>
              <a:rPr sz="1300" b="0" i="1">
                <a:solidFill>
                  <a:srgbClr val="9AABB8"/>
                </a:solidFill>
                <a:latin typeface="Calibri"/>
              </a:rPr>
              <a:t>The ledger update rides in the work PR — no follow-up “mark it done” noise.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A day in the life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RIGHT-SIZING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Scales from solo to enterprise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429000" cy="33832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3429000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288036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2DD4BF"/>
                </a:solidFill>
                <a:latin typeface="Calibri"/>
              </a:rPr>
              <a:t>ONE HUMAN, MANY HATS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600" b="0" i="0">
                <a:solidFill>
                  <a:srgbClr val="F4F7FA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50" b="0" i="0">
                <a:solidFill>
                  <a:srgbClr val="9AABB8"/>
                </a:solidFill>
                <a:latin typeface="Calibri"/>
              </a:rPr>
              <a:t>One person signs off as each specialist in turn — the role-switch forces the perspective a missing teammate would.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965960"/>
            <a:ext cx="3429000" cy="33832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965960"/>
            <a:ext cx="3429000" cy="109728"/>
          </a:xfrm>
          <a:prstGeom prst="rect">
            <a:avLst/>
          </a:prstGeom>
          <a:solidFill>
            <a:srgbClr val="F5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331720"/>
            <a:ext cx="288036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F5B74D"/>
                </a:solidFill>
                <a:latin typeface="Calibri"/>
              </a:rPr>
              <a:t>SOLO-SAFE DEFAULTS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600" b="0" i="0">
                <a:solidFill>
                  <a:srgbClr val="F4F7FA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50" b="0" i="0">
                <a:solidFill>
                  <a:srgbClr val="9AABB8"/>
                </a:solidFill>
                <a:latin typeface="Calibri"/>
              </a:rPr>
              <a:t>GitHub blocks self-approval, so a 1-person repo runs 0 required approvals; raise to ≥1 + code-owner review when a teammate joins.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965960"/>
            <a:ext cx="3429000" cy="33832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0" y="1965960"/>
            <a:ext cx="3429000" cy="109728"/>
          </a:xfrm>
          <a:prstGeom prst="rect">
            <a:avLst/>
          </a:prstGeom>
          <a:solidFill>
            <a:srgbClr val="4AD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2331720"/>
            <a:ext cx="288036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4AD295"/>
                </a:solidFill>
                <a:latin typeface="Calibri"/>
              </a:rPr>
              <a:t>NEVER TURN OFF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600" b="0" i="0">
                <a:solidFill>
                  <a:srgbClr val="F4F7FA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50" b="0" i="0">
                <a:solidFill>
                  <a:srgbClr val="9AABB8"/>
                </a:solidFill>
                <a:latin typeface="Calibri"/>
              </a:rPr>
              <a:t>Redlines, the hooks + CI mirror, and /docs consensus — calibrated to worst-case stakes for a reason.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1">
                <a:solidFill>
                  <a:srgbClr val="F4F7FA"/>
                </a:solidFill>
                <a:latin typeface="Calibri"/>
              </a:rPr>
              <a:t>Lower stakes? Scale the procedure down and </a:t>
            </a:r>
            <a:r>
              <a:rPr sz="1350" b="1" i="1">
                <a:solidFill>
                  <a:srgbClr val="F5B74D"/>
                </a:solidFill>
                <a:latin typeface="Calibri"/>
              </a:rPr>
              <a:t>write down what you removed and why</a:t>
            </a:r>
            <a:r>
              <a:rPr sz="1350" b="0" i="1">
                <a:solidFill>
                  <a:srgbClr val="F4F7FA"/>
                </a:solidFill>
                <a:latin typeface="Calibri"/>
              </a:rPr>
              <a:t> — don't pretend the full process is running when it isn't.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Scaling 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1280160"/>
            <a:ext cx="4206240" cy="4206240"/>
          </a:xfrm>
          <a:prstGeom prst="ellipse">
            <a:avLst/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3108960"/>
            <a:ext cx="3108960" cy="3108960"/>
          </a:xfrm>
          <a:prstGeom prst="ellipse">
            <a:avLst/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468880"/>
            <a:ext cx="1828800" cy="8229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5B74D"/>
                </a:solidFill>
                <a:latin typeface="Calibri"/>
              </a:rPr>
              <a:t>CASE STUDY — A REAL PRODUCTION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4F7FA"/>
                </a:solidFill>
                <a:latin typeface="Calibri"/>
              </a:rPr>
              <a:t>From “describes it” to “safe to act on”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987552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9AABB8"/>
                </a:solidFill>
                <a:latin typeface="Calibri"/>
              </a:rPr>
              <a:t>REFOPS · Living-Memory Hardening (T-002). Reviewed by 9 agents + 7 lenses. The codebase was never touched — only the living memory changed.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CASE STUDY ·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Docs that only describe aren't safe to act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10561320" cy="960120"/>
          </a:xfrm>
          <a:prstGeom prst="roundRect">
            <a:avLst>
              <a:gd name="adj" fmla="val 8000"/>
            </a:avLst>
          </a:prstGeom>
          <a:solidFill>
            <a:srgbClr val="24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93392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1">
                <a:solidFill>
                  <a:srgbClr val="F4F7FA"/>
                </a:solidFill>
                <a:latin typeface="Calibri"/>
              </a:rPr>
              <a:t>~1,100 lines of prose describing ~290 files of code = a lossy summary. A summary is wrong in exactly the places that cause outages.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9AABB8"/>
                </a:solidFill>
                <a:latin typeface="Calibri"/>
              </a:rPr>
              <a:t>Before hardening, /docs answered “what is this system?” — but not the three questions an autonomous agent must answer before it changes anything: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886200"/>
            <a:ext cx="10561320" cy="603504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3886200"/>
            <a:ext cx="603504" cy="603504"/>
          </a:xfrm>
          <a:prstGeom prst="ellipse">
            <a:avLst/>
          </a:prstGeom>
          <a:solidFill>
            <a:srgbClr val="E8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603504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4F7F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886200"/>
            <a:ext cx="95097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F4F7FA"/>
                </a:solidFill>
                <a:latin typeface="Calibri"/>
              </a:rPr>
              <a:t>What contract must I NOT break?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599432"/>
            <a:ext cx="10561320" cy="603504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4599432"/>
            <a:ext cx="603504" cy="603504"/>
          </a:xfrm>
          <a:prstGeom prst="ellipse">
            <a:avLst/>
          </a:prstGeom>
          <a:solidFill>
            <a:srgbClr val="E8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599432"/>
            <a:ext cx="603504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4F7F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599432"/>
            <a:ext cx="95097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F4F7FA"/>
                </a:solidFill>
                <a:latin typeface="Calibri"/>
              </a:rPr>
              <a:t>What else is coupled to this change?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312664"/>
            <a:ext cx="10561320" cy="603504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5312664"/>
            <a:ext cx="603504" cy="603504"/>
          </a:xfrm>
          <a:prstGeom prst="ellipse">
            <a:avLst/>
          </a:prstGeom>
          <a:solidFill>
            <a:srgbClr val="E8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12664"/>
            <a:ext cx="603504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4F7F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312664"/>
            <a:ext cx="95097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F4F7FA"/>
                </a:solidFill>
                <a:latin typeface="Calibri"/>
              </a:rPr>
              <a:t>How do I PROVE I didn't break 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Case study · the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CASE STUDY · THE 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Supervised autonomy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0561320" cy="1051560"/>
          </a:xfrm>
          <a:prstGeom prst="roundRect">
            <a:avLst>
              <a:gd name="adj" fmla="val 8000"/>
            </a:avLst>
          </a:prstGeom>
          <a:solidFill>
            <a:srgbClr val="243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66543"/>
            <a:ext cx="1005840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F4F7FA"/>
                </a:solidFill>
                <a:latin typeface="Calibri"/>
              </a:rPr>
              <a:t>Agent proposes + self-reviews against the docs.  </a:t>
            </a:r>
            <a:r>
              <a:rPr sz="1700" b="1" i="0">
                <a:solidFill>
                  <a:srgbClr val="F5B74D"/>
                </a:solidFill>
                <a:latin typeface="Calibri"/>
              </a:rPr>
              <a:t>A human gates every commit.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6120"/>
            <a:ext cx="10561320" cy="841248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246120"/>
            <a:ext cx="91440" cy="8412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364991"/>
            <a:ext cx="1005840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Agent does the heavy lifting   </a:t>
            </a:r>
            <a:r>
              <a:rPr sz="1300" b="0" i="0">
                <a:solidFill>
                  <a:srgbClr val="9AABB8"/>
                </a:solidFill>
                <a:latin typeface="Calibri"/>
              </a:rPr>
              <a:t>…and shows its work — a complete, reviewable proposal.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06240"/>
            <a:ext cx="10561320" cy="841248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4206240"/>
            <a:ext cx="91440" cy="8412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325112"/>
            <a:ext cx="1005840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Human approves mechanically   </a:t>
            </a:r>
            <a:r>
              <a:rPr sz="1300" b="0" i="0">
                <a:solidFill>
                  <a:srgbClr val="9AABB8"/>
                </a:solidFill>
                <a:latin typeface="Calibri"/>
              </a:rPr>
              <a:t>With a precise checklist in hand, not a vibe check.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166360"/>
            <a:ext cx="10561320" cy="841248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5166360"/>
            <a:ext cx="91440" cy="8412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285232"/>
            <a:ext cx="1005840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No self-approved risk   </a:t>
            </a:r>
            <a:r>
              <a:rPr sz="1300" b="0" i="0">
                <a:solidFill>
                  <a:srgbClr val="9AABB8"/>
                </a:solidFill>
                <a:latin typeface="Calibri"/>
              </a:rPr>
              <a:t>No agent merges a risky change on its own authority.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9AABB8"/>
                </a:solidFill>
                <a:latin typeface="Calibri"/>
              </a:rPr>
              <a:t>The docs' job: let the agent hand the human a trustworthy “here's what I changed, here's what could break, here's the proof.”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Case study · the 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CASE STUDY · THE CORE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A 4-step self-review 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542032" cy="24688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542032" cy="603504"/>
          </a:xfrm>
          <a:prstGeom prst="roundRect">
            <a:avLst>
              <a:gd name="adj" fmla="val 8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39"/>
            <a:ext cx="254203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4F7F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52927"/>
            <a:ext cx="2176272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1" i="0">
                <a:solidFill>
                  <a:srgbClr val="2DD4BF"/>
                </a:solidFill>
                <a:latin typeface="Calibri"/>
              </a:rPr>
              <a:t>CONTRACT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 i="0">
                <a:solidFill>
                  <a:srgbClr val="F4F7FA"/>
                </a:solidFill>
                <a:latin typeface="Calibri"/>
              </a:rPr>
              <a:t>contracts.md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400" b="0" i="0">
                <a:solidFill>
                  <a:srgbClr val="F4F7FA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what must NOT break?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8415" y="2103120"/>
            <a:ext cx="256032" cy="24688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334452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2103120"/>
            <a:ext cx="2542032" cy="24688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47872" y="2103120"/>
            <a:ext cx="2542032" cy="603504"/>
          </a:xfrm>
          <a:prstGeom prst="roundRect">
            <a:avLst>
              <a:gd name="adj" fmla="val 8000"/>
            </a:avLst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2148839"/>
            <a:ext cx="254203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4F7F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852927"/>
            <a:ext cx="2176272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1" i="0">
                <a:solidFill>
                  <a:srgbClr val="F5B74D"/>
                </a:solidFill>
                <a:latin typeface="Calibri"/>
              </a:rPr>
              <a:t>BLAST RADIUS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 i="0">
                <a:solidFill>
                  <a:srgbClr val="F4F7FA"/>
                </a:solidFill>
                <a:latin typeface="Calibri"/>
              </a:rPr>
              <a:t>invariants.md · features-map.md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400" b="0" i="0">
                <a:solidFill>
                  <a:srgbClr val="F4F7FA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what else must change?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2103120"/>
            <a:ext cx="256032" cy="24688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334452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2103120"/>
            <a:ext cx="2542032" cy="24688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2103120"/>
            <a:ext cx="2542032" cy="603504"/>
          </a:xfrm>
          <a:prstGeom prst="roundRect">
            <a:avLst>
              <a:gd name="adj" fmla="val 8000"/>
            </a:avLst>
          </a:prstGeom>
          <a:solidFill>
            <a:srgbClr val="4AD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2148839"/>
            <a:ext cx="254203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4F7FA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852927"/>
            <a:ext cx="2176272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1" i="0">
                <a:solidFill>
                  <a:srgbClr val="4AD295"/>
                </a:solidFill>
                <a:latin typeface="Calibri"/>
              </a:rPr>
              <a:t>PROOF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 i="0">
                <a:solidFill>
                  <a:srgbClr val="F4F7FA"/>
                </a:solidFill>
                <a:latin typeface="Calibri"/>
              </a:rPr>
              <a:t>verification.md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400" b="0" i="0">
                <a:solidFill>
                  <a:srgbClr val="F4F7FA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what check proves it's safe?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103120"/>
            <a:ext cx="256032" cy="24688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334452"/>
                </a:solidFill>
                <a:latin typeface="Calibr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2103120"/>
            <a:ext cx="2542032" cy="24688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97696" y="2103120"/>
            <a:ext cx="2542032" cy="603504"/>
          </a:xfrm>
          <a:prstGeom prst="roundRect">
            <a:avLst>
              <a:gd name="adj" fmla="val 8000"/>
            </a:avLst>
          </a:prstGeom>
          <a:solidFill>
            <a:srgbClr val="E8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7696" y="2148839"/>
            <a:ext cx="254203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4F7F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2852927"/>
            <a:ext cx="2176272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1" i="0">
                <a:solidFill>
                  <a:srgbClr val="E86A6A"/>
                </a:solidFill>
                <a:latin typeface="Calibri"/>
              </a:rPr>
              <a:t>HUMAN GATE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 i="0">
                <a:solidFill>
                  <a:srgbClr val="F4F7FA"/>
                </a:solidFill>
                <a:latin typeface="Calibri"/>
              </a:rPr>
              <a:t>diff + proof + checklist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400" b="0" i="0">
                <a:solidFill>
                  <a:srgbClr val="F4F7FA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hand it to a person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9204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1" i="0">
                <a:solidFill>
                  <a:srgbClr val="F4F7FA"/>
                </a:solidFill>
                <a:latin typeface="Calibri"/>
              </a:rPr>
              <a:t>A change is not “ready” until all four are answered. </a:t>
            </a:r>
            <a:r>
              <a:rPr sz="1450" b="1" i="0">
                <a:solidFill>
                  <a:srgbClr val="F5B74D"/>
                </a:solidFill>
                <a:latin typeface="Calibri"/>
              </a:rPr>
              <a:t>This sequence is the binary definition of done.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Case study · the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CASE STUDY · WHAT GOT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Three docs do the load-bearing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10561320" cy="13258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109728" cy="132588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02536"/>
            <a:ext cx="283464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50" b="1" i="0">
                <a:solidFill>
                  <a:srgbClr val="F4F7FA"/>
                </a:solidFill>
                <a:latin typeface="Calibri"/>
              </a:rPr>
              <a:t>contracts.md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DD4BF"/>
                </a:solidFill>
                <a:latin typeface="Calibri"/>
              </a:rPr>
              <a:t>WHAT MUST NOT BREAK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002536"/>
            <a:ext cx="704088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Machine-checkable contract for all 34 /api routes: method, request/response shape, status codes, error envelope, auth class. Built FROM CODE, stamped with the commit SHA so staleness is detectable.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10127"/>
            <a:ext cx="10561320" cy="13258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310127"/>
            <a:ext cx="109728" cy="1325880"/>
          </a:xfrm>
          <a:prstGeom prst="rect">
            <a:avLst/>
          </a:prstGeom>
          <a:solidFill>
            <a:srgbClr val="F5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438144"/>
            <a:ext cx="283464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50" b="1" i="0">
                <a:solidFill>
                  <a:srgbClr val="F4F7FA"/>
                </a:solidFill>
                <a:latin typeface="Calibri"/>
              </a:rPr>
              <a:t>invariants.md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5B74D"/>
                </a:solidFill>
                <a:latin typeface="Calibri"/>
              </a:rPr>
              <a:t>THE “CHANGE-X-THEN-Y”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438144"/>
            <a:ext cx="704088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The #1 cause of silent breakage: changing one side of a coupling and forgetting the other — especially across repos. Imperative checklists, some BLOCK-class: auth traps, FE↔automation links, data contracts, secrets.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745736"/>
            <a:ext cx="10561320" cy="13258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745736"/>
            <a:ext cx="109728" cy="1325880"/>
          </a:xfrm>
          <a:prstGeom prst="rect">
            <a:avLst/>
          </a:prstGeom>
          <a:solidFill>
            <a:srgbClr val="4AD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873751"/>
            <a:ext cx="283464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50" b="1" i="0">
                <a:solidFill>
                  <a:srgbClr val="F4F7FA"/>
                </a:solidFill>
                <a:latin typeface="Calibri"/>
              </a:rPr>
              <a:t>verification.md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4AD295"/>
                </a:solidFill>
                <a:latin typeface="Calibri"/>
              </a:rPr>
              <a:t>HOW TO PROVE IT'S SAFE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873751"/>
            <a:ext cx="704088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Per change-type, the exact check that proves safety — and honest about what can't be proven locally: green=static check, yellow=CI, red=needs a deployed lane, human=judgment. “An app build passing is NOT enough.”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Case study · the 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CASE STUDY · THE SUPPORTING 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And the docs that keep it honest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166360" cy="118872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91440" cy="1188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66544"/>
            <a:ext cx="4754880" cy="960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 i="0">
                <a:solidFill>
                  <a:srgbClr val="F4F7FA"/>
                </a:solidFill>
                <a:latin typeface="Calibri"/>
              </a:rPr>
              <a:t>features-map.md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9AABB8"/>
                </a:solidFill>
                <a:latin typeface="Calibri"/>
              </a:rPr>
              <a:t>Per-feature blast radius — every feature's pages, routes, permissions, upstreams, cache tags, plus its QA page-objects &amp; tests, in one 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166360" cy="118872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91440" cy="1188720"/>
          </a:xfrm>
          <a:prstGeom prst="rect">
            <a:avLst/>
          </a:prstGeom>
          <a:solidFill>
            <a:srgbClr val="F5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66544"/>
            <a:ext cx="4754880" cy="960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 i="0">
                <a:solidFill>
                  <a:srgbClr val="F4F7FA"/>
                </a:solidFill>
                <a:latin typeface="Calibri"/>
              </a:rPr>
              <a:t>contract-drift-guard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9AABB8"/>
                </a:solidFill>
                <a:latin typeface="Calibri"/>
              </a:rPr>
              <a:t>Authority order (code &gt; types &gt; doc) + SHA staleness check, so contracts.md never silently rots.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46120"/>
            <a:ext cx="5166360" cy="118872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246120"/>
            <a:ext cx="91440" cy="1188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392424"/>
            <a:ext cx="4754880" cy="960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 i="0">
                <a:solidFill>
                  <a:srgbClr val="F4F7FA"/>
                </a:solidFill>
                <a:latin typeface="Calibri"/>
              </a:rPr>
              <a:t>blocked-items.md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9AABB8"/>
                </a:solidFill>
                <a:latin typeface="Calibri"/>
              </a:rPr>
              <a:t>Facts only humans can supply (compliance regime, on-call, owners) — explicit BLOCKERS, never invented.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46120"/>
            <a:ext cx="5166360" cy="118872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246120"/>
            <a:ext cx="91440" cy="1188720"/>
          </a:xfrm>
          <a:prstGeom prst="rect">
            <a:avLst/>
          </a:prstGeom>
          <a:solidFill>
            <a:srgbClr val="F5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92424"/>
            <a:ext cx="4754880" cy="960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 i="0">
                <a:solidFill>
                  <a:srgbClr val="F4F7FA"/>
                </a:solidFill>
                <a:latin typeface="Calibri"/>
              </a:rPr>
              <a:t>runbooks/ (×6)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9AABB8"/>
                </a:solidFill>
                <a:latin typeface="Calibri"/>
              </a:rPr>
              <a:t>On-call playbooks: upstream down, Databricks pool, cache, auth/Okta, secrets, rollback.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572000"/>
            <a:ext cx="5166360" cy="118872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572000"/>
            <a:ext cx="91440" cy="1188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18304"/>
            <a:ext cx="4754880" cy="960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 i="0">
                <a:solidFill>
                  <a:srgbClr val="F4F7FA"/>
                </a:solidFill>
                <a:latin typeface="Calibri"/>
              </a:rPr>
              <a:t>ADR-0004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9AABB8"/>
                </a:solidFill>
                <a:latin typeface="Calibri"/>
              </a:rPr>
              <a:t>Records WHY this approach was chosen — the question a future engineer will ask.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572000"/>
            <a:ext cx="5166360" cy="118872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572000"/>
            <a:ext cx="91440" cy="1188720"/>
          </a:xfrm>
          <a:prstGeom prst="rect">
            <a:avLst/>
          </a:prstGeom>
          <a:solidFill>
            <a:srgbClr val="F5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718304"/>
            <a:ext cx="4754880" cy="960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 i="0">
                <a:solidFill>
                  <a:srgbClr val="F4F7FA"/>
                </a:solidFill>
                <a:latin typeface="Calibri"/>
              </a:rPr>
              <a:t>Reviewed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9AABB8"/>
                </a:solidFill>
                <a:latin typeface="Calibri"/>
              </a:rPr>
              <a:t>9 specialist agents + 7 strategic lenses signed off before any of it landed.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Case study · supporting 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CASE STUDY · WHERE AUTONOMY STOPS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The docs fence off what agents can't self-approve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212080" cy="24688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5212080" cy="109728"/>
          </a:xfrm>
          <a:prstGeom prst="rect">
            <a:avLst/>
          </a:prstGeom>
          <a:solidFill>
            <a:srgbClr val="E8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4663440" cy="2103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 i="0">
                <a:solidFill>
                  <a:srgbClr val="F4F7FA"/>
                </a:solidFill>
                <a:latin typeface="Calibri"/>
              </a:rPr>
              <a:t>PII-bearing routes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9AABB8"/>
                </a:solidFill>
                <a:latin typeface="Calibri"/>
              </a:rPr>
              <a:t>(person lookup, etc.)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500" b="0" i="0">
                <a:solidFill>
                  <a:srgbClr val="F4F7FA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F5B74D"/>
                </a:solidFill>
                <a:latin typeface="Calibri"/>
              </a:rPr>
              <a:t>→ blocked until the compliance / privacy regime is named by an owner.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11680"/>
            <a:ext cx="5212080" cy="246888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2011680"/>
            <a:ext cx="5212080" cy="109728"/>
          </a:xfrm>
          <a:prstGeom prst="rect">
            <a:avLst/>
          </a:prstGeom>
          <a:solidFill>
            <a:srgbClr val="E8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240280"/>
            <a:ext cx="4663440" cy="2103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 i="0">
                <a:solidFill>
                  <a:srgbClr val="F4F7FA"/>
                </a:solidFill>
                <a:latin typeface="Calibri"/>
              </a:rPr>
              <a:t>Known fail-open auth routes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9AABB8"/>
                </a:solidFill>
                <a:latin typeface="Calibri"/>
              </a:rPr>
              <a:t>the ones the review found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500" b="0" i="0">
                <a:solidFill>
                  <a:srgbClr val="F4F7FA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F5B74D"/>
                </a:solidFill>
                <a:latin typeface="Calibri"/>
              </a:rPr>
              <a:t>→ blocked until the security fix (tracked as T-004) lands.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4F7FA"/>
                </a:solidFill>
                <a:latin typeface="Calibri"/>
              </a:rPr>
              <a:t>“We don't know” is written down as a BLOCKER with an owner — </a:t>
            </a:r>
            <a:r>
              <a:rPr sz="1500" b="1" i="1">
                <a:solidFill>
                  <a:srgbClr val="F5B74D"/>
                </a:solidFill>
                <a:latin typeface="Calibri"/>
              </a:rPr>
              <a:t>not guessed, not silently assumed safe.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Case study ·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CASE STUDY · PROOF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Writing the contracts found real production holes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F4F7FA"/>
                </a:solidFill>
                <a:latin typeface="Calibri"/>
              </a:rPr>
              <a:t>Building contracts.md </a:t>
            </a:r>
            <a:r>
              <a:rPr sz="1450" b="1" i="0">
                <a:solidFill>
                  <a:srgbClr val="F5B74D"/>
                </a:solidFill>
                <a:latin typeface="Calibri"/>
              </a:rPr>
              <a:t>from code</a:t>
            </a:r>
            <a:r>
              <a:rPr sz="1450" b="0" i="0">
                <a:solidFill>
                  <a:srgbClr val="F4F7FA"/>
                </a:solidFill>
                <a:latin typeface="Calibri"/>
              </a:rPr>
              <a:t> mechanically surfaced two authorization holes the prose docs had missed: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06040"/>
            <a:ext cx="10561320" cy="100584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06040"/>
            <a:ext cx="109728" cy="1005840"/>
          </a:xfrm>
          <a:prstGeom prst="rect">
            <a:avLst/>
          </a:prstGeom>
          <a:solidFill>
            <a:srgbClr val="E8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52344"/>
            <a:ext cx="100584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1" i="0">
                <a:solidFill>
                  <a:srgbClr val="E86A6A"/>
                </a:solidFill>
                <a:latin typeface="Consolas"/>
              </a:rPr>
              <a:t>/api/contact-validation/:id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F4F7FA"/>
                </a:solidFill>
                <a:latin typeface="Calibri"/>
              </a:rPr>
              <a:t>A MUTATING endpoint (flips PRP feature flags) reachable by ANY authenticated user, regardless of role.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49039"/>
            <a:ext cx="10561320" cy="100584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749039"/>
            <a:ext cx="109728" cy="1005840"/>
          </a:xfrm>
          <a:prstGeom prst="rect">
            <a:avLst/>
          </a:prstGeom>
          <a:solidFill>
            <a:srgbClr val="E8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95344"/>
            <a:ext cx="100584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1" i="0">
                <a:solidFill>
                  <a:srgbClr val="E86A6A"/>
                </a:solidFill>
                <a:latin typeface="Consolas"/>
              </a:rPr>
              <a:t>/api/databricks/person-lookup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F4F7FA"/>
                </a:solidFill>
                <a:latin typeface="Calibri"/>
              </a:rPr>
              <a:t>A PII query surface — fail-open.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074920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193792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1" i="0">
                <a:solidFill>
                  <a:srgbClr val="F4F7FA"/>
                </a:solidFill>
                <a:latin typeface="Calibri"/>
              </a:rPr>
              <a:t>The docs doing their job: writing the contract surfaced real holes. </a:t>
            </a:r>
            <a:r>
              <a:rPr sz="1450" b="0" i="0">
                <a:solidFill>
                  <a:srgbClr val="F4F7FA"/>
                </a:solidFill>
                <a:latin typeface="Calibri"/>
              </a:rPr>
              <a:t>Both are now documented + tracked for fix — not silently shipped.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Case study · 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CASE STUDY · BEFORE VS.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What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74519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9AABB8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1874519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E86A6A"/>
                </a:solidFill>
                <a:latin typeface="Calibri"/>
              </a:rPr>
              <a:t>BEFORE (T-001)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874519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4AD295"/>
                </a:solidFill>
                <a:latin typeface="Calibri"/>
              </a:rPr>
              <a:t>AFTER (T-002)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10561320" cy="530352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48056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4F7FA"/>
                </a:solidFill>
                <a:latin typeface="Calibri"/>
              </a:rPr>
              <a:t>API contracts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2286000"/>
            <a:ext cx="274320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prose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286000"/>
            <a:ext cx="283464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F4F7FA"/>
                </a:solidFill>
                <a:latin typeface="Calibri"/>
              </a:rPr>
              <a:t>34 routes, code-sourced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52928"/>
            <a:ext cx="448056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4F7FA"/>
                </a:solidFill>
                <a:latin typeface="Calibri"/>
              </a:rPr>
              <a:t>Coupling / blast radius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852928"/>
            <a:ext cx="274320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none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852928"/>
            <a:ext cx="283464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F4F7FA"/>
                </a:solidFill>
                <a:latin typeface="Calibri"/>
              </a:rPr>
              <a:t>invariants + features-map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19856"/>
            <a:ext cx="10561320" cy="530352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19856"/>
            <a:ext cx="448056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4F7FA"/>
                </a:solidFill>
                <a:latin typeface="Calibri"/>
              </a:rPr>
              <a:t>Proof-of-safety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419856"/>
            <a:ext cx="274320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implicit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419856"/>
            <a:ext cx="283464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F4F7FA"/>
                </a:solidFill>
                <a:latin typeface="Calibri"/>
              </a:rPr>
              <a:t>per-change playbook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86783"/>
            <a:ext cx="448056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4F7FA"/>
                </a:solidFill>
                <a:latin typeface="Calibri"/>
              </a:rPr>
              <a:t>Cross-repo awareness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986783"/>
            <a:ext cx="274320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none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986783"/>
            <a:ext cx="283464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F4F7FA"/>
                </a:solidFill>
                <a:latin typeface="Calibri"/>
              </a:rPr>
              <a:t>FE ↔ QA links mapped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553712"/>
            <a:ext cx="10561320" cy="530352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553712"/>
            <a:ext cx="448056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4F7FA"/>
                </a:solidFill>
                <a:latin typeface="Calibri"/>
              </a:rPr>
              <a:t>Staleness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4553712"/>
            <a:ext cx="274320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none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4553712"/>
            <a:ext cx="283464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F4F7FA"/>
                </a:solidFill>
                <a:latin typeface="Calibri"/>
              </a:rPr>
              <a:t>SHA stamp + drift guard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120640"/>
            <a:ext cx="448056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4F7FA"/>
                </a:solidFill>
                <a:latin typeface="Calibri"/>
              </a:rPr>
              <a:t>Unknown facts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5120640"/>
            <a:ext cx="274320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9AABB8"/>
                </a:solidFill>
                <a:latin typeface="Calibri"/>
              </a:rPr>
              <a:t>scattered / implied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5120640"/>
            <a:ext cx="283464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F4F7FA"/>
                </a:solidFill>
                <a:latin typeface="Calibri"/>
              </a:rPr>
              <a:t>explicit owned blockers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715000"/>
            <a:ext cx="10561320" cy="566928"/>
          </a:xfrm>
          <a:prstGeom prst="roundRect">
            <a:avLst>
              <a:gd name="adj" fmla="val 8000"/>
            </a:avLst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15000"/>
            <a:ext cx="1024128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F4F7FA"/>
                </a:solidFill>
                <a:latin typeface="Calibri"/>
              </a:rPr>
              <a:t>Net effect:   </a:t>
            </a:r>
            <a:r>
              <a:rPr sz="1350" b="0" i="0">
                <a:solidFill>
                  <a:srgbClr val="9AABB8"/>
                </a:solidFill>
                <a:latin typeface="Calibri"/>
              </a:rPr>
              <a:t>“describes it”   →   </a:t>
            </a:r>
            <a:r>
              <a:rPr sz="1350" b="1" i="0">
                <a:solidFill>
                  <a:srgbClr val="F5B74D"/>
                </a:solidFill>
                <a:latin typeface="Calibri"/>
              </a:rPr>
              <a:t>“safe to act on it”  (under human gate)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Case study · before/after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1280160"/>
            <a:ext cx="4206240" cy="4206240"/>
          </a:xfrm>
          <a:prstGeom prst="ellipse">
            <a:avLst/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3108960"/>
            <a:ext cx="3108960" cy="3108960"/>
          </a:xfrm>
          <a:prstGeom prst="ellipse">
            <a:avLst/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468880"/>
            <a:ext cx="1828800" cy="8229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5B74D"/>
                </a:solidFill>
                <a:latin typeface="Calibri"/>
              </a:rPr>
              <a:t>CASE STUDY · BOTTOM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4F7FA"/>
                </a:solidFill>
                <a:latin typeface="Calibri"/>
              </a:rPr>
              <a:t>“If I change this, what breaks — and how do I prove I didn't?”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987552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9AABB8"/>
                </a:solidFill>
                <a:latin typeface="Calibri"/>
              </a:rPr>
              <a:t>The docs now answer that for any change. That is the difference between docs that DESCRIBE a system and docs that are SAFE TO ACT ON. The codebase was never touched — the living memory simply became trustworthy enough to supervise real work against.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4F7FA"/>
                </a:solidFill>
                <a:latin typeface="Calibri"/>
              </a:rPr>
              <a:t>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10561320" cy="713232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093976"/>
            <a:ext cx="274320" cy="2743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874519"/>
            <a:ext cx="960120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0" i="0">
                <a:solidFill>
                  <a:srgbClr val="F4F7FA"/>
                </a:solidFill>
                <a:latin typeface="Calibri"/>
              </a:rPr>
              <a:t>Every agent starts grounded in the same living memory — no cold starts, no invented 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15768"/>
            <a:ext cx="10561320" cy="713232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2935224"/>
            <a:ext cx="274320" cy="2743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715768"/>
            <a:ext cx="960120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0" i="0">
                <a:solidFill>
                  <a:srgbClr val="F4F7FA"/>
                </a:solidFill>
                <a:latin typeface="Calibri"/>
              </a:rPr>
              <a:t>contracts.md + the regression-safety gate mean changes are made with eyes open to blast radius.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57015"/>
            <a:ext cx="10561320" cy="713232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776472"/>
            <a:ext cx="274320" cy="2743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557015"/>
            <a:ext cx="960120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0" i="0">
                <a:solidFill>
                  <a:srgbClr val="F4F7FA"/>
                </a:solidFill>
                <a:latin typeface="Calibri"/>
              </a:rPr>
              <a:t>9 specialists + 3 rounds + 7 lenses catch what a single pass misses.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98264"/>
            <a:ext cx="10561320" cy="713232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617720"/>
            <a:ext cx="274320" cy="2743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4398264"/>
            <a:ext cx="960120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0" i="0">
                <a:solidFill>
                  <a:srgbClr val="F4F7FA"/>
                </a:solidFill>
                <a:latin typeface="Calibri"/>
              </a:rPr>
              <a:t>Hooks + CI + branch protection make the conventions mechanical, not aspirational.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239512"/>
            <a:ext cx="10561320" cy="713232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5458968"/>
            <a:ext cx="274320" cy="2743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5239512"/>
            <a:ext cx="960120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0" i="0">
                <a:solidFill>
                  <a:srgbClr val="F4F7FA"/>
                </a:solidFill>
                <a:latin typeface="Calibri"/>
              </a:rPr>
              <a:t>One framework, single- or multi-repo, solo founder to enterprise team.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Recap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BB8"/>
                </a:solidFill>
                <a:latin typeface="Calibr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206240"/>
            <a:ext cx="4572000" cy="4572000"/>
          </a:xfrm>
          <a:prstGeom prst="ellipse">
            <a:avLst/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26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011680"/>
            <a:ext cx="1828800" cy="8229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4400" b="1" i="0">
                <a:solidFill>
                  <a:srgbClr val="F4F7FA"/>
                </a:solidFill>
                <a:latin typeface="Calibri"/>
              </a:rPr>
              <a:t>Start in five minutes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800" b="0" i="0">
                <a:solidFill>
                  <a:srgbClr val="2DD4BF"/>
                </a:solidFill>
                <a:latin typeface="Calibri"/>
              </a:rPr>
              <a:t>Fork it. Replace the placeholders. Install the hooks. Let the agent build /docs.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14800"/>
            <a:ext cx="10561320" cy="1280160"/>
          </a:xfrm>
          <a:prstGeom prst="roundRect">
            <a:avLst>
              <a:gd name="adj" fmla="val 8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261104"/>
            <a:ext cx="1005840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9AABB8"/>
                </a:solidFill>
                <a:latin typeface="Calibri"/>
              </a:rPr>
              <a:t>Read first:  </a:t>
            </a:r>
            <a:r>
              <a:rPr sz="1400" b="1" i="0">
                <a:solidFill>
                  <a:srgbClr val="F5B74D"/>
                </a:solidFill>
                <a:latin typeface="Calibri"/>
              </a:rPr>
              <a:t>ADOPTING.md</a:t>
            </a:r>
            <a:r>
              <a:rPr sz="1400" b="0" i="0">
                <a:solidFill>
                  <a:srgbClr val="9AABB8"/>
                </a:solidFill>
                <a:latin typeface="Calibri"/>
              </a:rPr>
              <a:t>  (fork → enforced)        </a:t>
            </a:r>
            <a:r>
              <a:rPr sz="1400" b="1" i="0">
                <a:solidFill>
                  <a:srgbClr val="F5B74D"/>
                </a:solidFill>
                <a:latin typeface="Calibri"/>
              </a:rPr>
              <a:t>AGENTS.md</a:t>
            </a:r>
            <a:r>
              <a:rPr sz="1400" b="0" i="0">
                <a:solidFill>
                  <a:srgbClr val="9AABB8"/>
                </a:solidFill>
                <a:latin typeface="Calibri"/>
              </a:rPr>
              <a:t>  (the canonical conventions)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Then just start your agent — it reads the rules and bootstraps the rest.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9AABB8"/>
                </a:solidFill>
                <a:latin typeface="Calibri"/>
              </a:rPr>
              <a:t>Agentic Starter  —  conventions + memory + enforcement, so AI you can trust.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